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A5A5A"/>
                </a:solidFill>
                <a:latin typeface="Calibri"/>
              </a:rPr>
              <a:t>Share of organizations using AI in ≥1 business function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Organizations using AI</c:v>
                </c:pt>
              </c:strCache>
            </c:strRef>
          </c:tx>
          <c:spPr>
            <a:solidFill>
              <a:srgbClr val="2E6FD8"/>
            </a:solidFill>
            <a:ln w="38100" cap="flat">
              <a:solidFill>
                <a:srgbClr val="2E6FD8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3224F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2E6FD8"/>
              </a:solidFill>
              <a:ln w="9525" cap="flat">
                <a:solidFill>
                  <a:srgbClr val="2E6F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2017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50</c:v>
                </c:pt>
                <c:pt idx="2">
                  <c:v>55</c:v>
                </c:pt>
                <c:pt idx="3">
                  <c:v>78</c:v>
                </c:pt>
                <c:pt idx="4">
                  <c:v>88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3224F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A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4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A5A5A"/>
                </a:solidFill>
                <a:latin typeface="Calibri"/>
              </a:rPr>
              <a:t>Institutional estimates of AI's economic impact (USD trillions)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Estimate</c:v>
                </c:pt>
              </c:strCache>
            </c:strRef>
          </c:tx>
          <c:spPr>
            <a:solidFill>
              <a:srgbClr val="13224F"/>
            </a:solidFill>
            <a:effectLst/>
          </c:spPr>
          <c:invertIfNegative val="0"/>
          <c:dLbls>
            <c:numFmt formatCode="&quot;$&quot;0.0&quot;T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3224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322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6F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C1F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PwC — added to global
GDP by 2030</c:v>
                  </c:pt>
                  <c:pt idx="1">
                    <c:v>Goldman Sachs — GDP
lift over a decade</c:v>
                  </c:pt>
                  <c:pt idx="2">
                    <c:v>McKinsey — annual value,
generative AI (midpoint)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15.7</c:v>
                </c:pt>
                <c:pt idx="1">
                  <c:v>7</c:v>
                </c:pt>
                <c:pt idx="2">
                  <c:v>3.5</c:v>
                </c:pt>
              </c:numCache>
            </c:numRef>
          </c:val>
        </c:ser>
        <c:dLbls>
          <c:numFmt formatCode="&quot;$&quot;0.0&quot;T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3224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A5A5A"/>
                </a:solidFill>
                <a:latin typeface="Calibri"/>
              </a:rPr>
              <a:t>Productivity improvement in controlled studies of generative-AI assistance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Measured gain</c:v>
                </c:pt>
              </c:strCache>
            </c:strRef>
          </c:tx>
          <c:spPr>
            <a:solidFill>
              <a:srgbClr val="9DC1F0"/>
            </a:solidFill>
            <a:effectLst/>
          </c:spPr>
          <c:invertIfNegative val="0"/>
          <c:dLbls>
            <c:numFmt formatCode="&quot;+&quot;0.#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3224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DC1F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93E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6F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3224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Customer support overall — Brynjolfsson et al. (NBER)</c:v>
                  </c:pt>
                  <c:pt idx="1">
                    <c:v>Novice support agents — Brynjolfsson et al. (NBER)</c:v>
                  </c:pt>
                  <c:pt idx="2">
                    <c:v>Business-writing speed — Noy &amp; Zhang (Science)</c:v>
                  </c:pt>
                  <c:pt idx="3">
                    <c:v>Coding task speed — Peng et al. (GitHub Copilot)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34</c:v>
                </c:pt>
                <c:pt idx="2">
                  <c:v>40</c:v>
                </c:pt>
                <c:pt idx="3">
                  <c:v>55.8</c:v>
                </c:pt>
              </c:numCache>
            </c:numRef>
          </c:val>
        </c:ser>
        <c:dLbls>
          <c:numFmt formatCode="&quot;+&quot;0.#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3224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E4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A5A5A"/>
                </a:solidFill>
                <a:latin typeface="Calibri"/>
              </a:rPr>
              <a:t>Projected global job creation &amp; displacement by 2030 (millions)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Jobs by 2030</c:v>
                </c:pt>
              </c:strCache>
            </c:strRef>
          </c:tx>
          <c:spPr>
            <a:solidFill>
              <a:srgbClr val="2E6FD8"/>
            </a:solidFill>
            <a:effectLst/>
          </c:spPr>
          <c:invertIfNegative val="0"/>
          <c:dLbls>
            <c:numFmt formatCode="+0&quot;M&quot;;-0&quot;M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3224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6F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4C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C1F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New roles created</c:v>
                  </c:pt>
                  <c:pt idx="1">
                    <c:v>Roles displaced</c:v>
                  </c:pt>
                  <c:pt idx="2">
                    <c:v>Net change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170</c:v>
                </c:pt>
                <c:pt idx="1">
                  <c:v>-92</c:v>
                </c:pt>
                <c:pt idx="2">
                  <c:v>78</c:v>
                </c:pt>
              </c:numCache>
            </c:numRef>
          </c:val>
        </c:ser>
        <c:dLbls>
          <c:numFmt formatCode="+0&quot;M&quot;;-0&quot;M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3224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A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A5A5A"/>
                </a:solidFill>
                <a:latin typeface="Calibri"/>
              </a:rPr>
              <a:t>Wage premium for jobs requiring AI skills (PwC AI Jobs Barometer)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Wage premium</c:v>
                </c:pt>
              </c:strCache>
            </c:strRef>
          </c:tx>
          <c:spPr>
            <a:solidFill>
              <a:srgbClr val="9DC1F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13224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DC1F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93E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3224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2024 report</c:v>
                  </c:pt>
                  <c:pt idx="1">
                    <c:v>2025 report</c:v>
                  </c:pt>
                  <c:pt idx="2">
                    <c:v>2026 report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56</c:v>
                </c:pt>
                <c:pt idx="2">
                  <c:v>62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500" u="none">
                  <a:solidFill>
                    <a:srgbClr val="13224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A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12700" cap="flat">
              <a:solidFill>
                <a:srgbClr val="E4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A5A5A"/>
                </a:solidFill>
                <a:latin typeface="Calibri"/>
              </a:rPr>
              <a:t>U.S. employment change, 2024–2034 projections (BLS)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change</c:v>
                </c:pt>
              </c:strCache>
            </c:strRef>
          </c:tx>
          <c:spPr>
            <a:solidFill>
              <a:srgbClr val="2E7D4F"/>
            </a:solidFill>
            <a:effectLst/>
          </c:spPr>
          <c:invertIfNegative val="0"/>
          <c:dLbls>
            <c:numFmt formatCode="+0.#&quot;%&quot;;-0.#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4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4C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4C4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94C4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94C4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Data scientists</c:v>
                  </c:pt>
                  <c:pt idx="1">
                    <c:v>Info-security analysts</c:v>
                  </c:pt>
                  <c:pt idx="2">
                    <c:v>Software developers</c:v>
                  </c:pt>
                  <c:pt idx="3">
                    <c:v>Cashiers</c:v>
                  </c:pt>
                  <c:pt idx="4">
                    <c:v>Data entry keyers</c:v>
                  </c:pt>
                  <c:pt idx="5">
                    <c:v>Switchboard operators</c:v>
                  </c:pt>
                  <c:pt idx="6">
                    <c:v>Word processors &amp; typists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33.5</c:v>
                </c:pt>
                <c:pt idx="1">
                  <c:v>28.5</c:v>
                </c:pt>
                <c:pt idx="2">
                  <c:v>15.8</c:v>
                </c:pt>
                <c:pt idx="3">
                  <c:v>-9.9</c:v>
                </c:pt>
                <c:pt idx="4">
                  <c:v>-25.9</c:v>
                </c:pt>
                <c:pt idx="5">
                  <c:v>-26.3</c:v>
                </c:pt>
                <c:pt idx="6">
                  <c:v>-36.1</c:v>
                </c:pt>
              </c:numCache>
            </c:numRef>
          </c:val>
        </c:ser>
        <c:dLbls>
          <c:numFmt formatCode="+0.#&quot;%&quot;;-0.#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E4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6640" y="1280160"/>
            <a:ext cx="49377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8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BRIEFING  ·  JULY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Economy and</a:t>
            </a:r>
            <a:endParaRPr lang="en-US" sz="48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Future Workforce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9776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 impact, economic benefits, AI literacy &amp; education,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KSA → OKR → KPI framework for AI-job readiness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5257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Ronnie Gladney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AI Consultant   ·   First Author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5715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C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of three companion research papers · 30+ primary sources incl. Stanford AI Index 2025–26, WEF, PwC, IMF, BLS, NBER, Science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economy has already committed to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39696" cy="3291840"/>
          </a:xfrm>
          <a:prstGeom prst="roundRect">
            <a:avLst>
              <a:gd name="adj" fmla="val 3419"/>
            </a:avLst>
          </a:prstGeom>
          <a:solidFill>
            <a:srgbClr val="13224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11680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D8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$581.7B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1865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corporate AI investment in 2025 — 2.3× the 2024 total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448056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DC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AI Index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834640" y="1691640"/>
            <a:ext cx="2139696" cy="3291840"/>
          </a:xfrm>
          <a:prstGeom prst="roundRect">
            <a:avLst>
              <a:gd name="adj" fmla="val 3419"/>
            </a:avLst>
          </a:prstGeom>
          <a:solidFill>
            <a:srgbClr val="EFF4FC"/>
          </a:solidFill>
          <a:ln/>
        </p:spPr>
      </p:sp>
      <p:sp>
        <p:nvSpPr>
          <p:cNvPr id="9" name="Text 7"/>
          <p:cNvSpPr/>
          <p:nvPr/>
        </p:nvSpPr>
        <p:spPr>
          <a:xfrm>
            <a:off x="2971800" y="2011680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2971800" y="3017520"/>
            <a:ext cx="1865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organizations used AI in at least one function in 2025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71800" y="448056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Index 2026 / McKinsey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0640" y="1691640"/>
            <a:ext cx="2139696" cy="3291840"/>
          </a:xfrm>
          <a:prstGeom prst="roundRect">
            <a:avLst>
              <a:gd name="adj" fmla="val 3419"/>
            </a:avLst>
          </a:prstGeom>
          <a:solidFill>
            <a:srgbClr val="EFF4FC"/>
          </a:solidFill>
          <a:ln/>
        </p:spPr>
      </p:sp>
      <p:sp>
        <p:nvSpPr>
          <p:cNvPr id="13" name="Text 11"/>
          <p:cNvSpPr/>
          <p:nvPr/>
        </p:nvSpPr>
        <p:spPr>
          <a:xfrm>
            <a:off x="5257800" y="2011680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+78M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5257800" y="3017520"/>
            <a:ext cx="1865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new jobs projected worldwide by 2030 (170M created, 92M displaced)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57800" y="448056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WEF Future of Jobs 2025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06640" y="1691640"/>
            <a:ext cx="2139696" cy="3291840"/>
          </a:xfrm>
          <a:prstGeom prst="roundRect">
            <a:avLst>
              <a:gd name="adj" fmla="val 3419"/>
            </a:avLst>
          </a:prstGeom>
          <a:solidFill>
            <a:srgbClr val="EFF4FC"/>
          </a:solidFill>
          <a:ln/>
        </p:spPr>
      </p:sp>
      <p:sp>
        <p:nvSpPr>
          <p:cNvPr id="17" name="Text 15"/>
          <p:cNvSpPr/>
          <p:nvPr/>
        </p:nvSpPr>
        <p:spPr>
          <a:xfrm>
            <a:off x="7543800" y="2011680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7543800" y="3017520"/>
            <a:ext cx="1865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 premium for workers with AI skills — up from 25% two years ago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543800" y="448056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AI Jobs Barometer 2026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692640" y="1691640"/>
            <a:ext cx="2139696" cy="3291840"/>
          </a:xfrm>
          <a:prstGeom prst="roundRect">
            <a:avLst>
              <a:gd name="adj" fmla="val 3419"/>
            </a:avLst>
          </a:prstGeom>
          <a:solidFill>
            <a:srgbClr val="EFF4FC"/>
          </a:solidFill>
          <a:ln/>
        </p:spPr>
      </p:sp>
      <p:sp>
        <p:nvSpPr>
          <p:cNvPr id="21" name="Text 19"/>
          <p:cNvSpPr/>
          <p:nvPr/>
        </p:nvSpPr>
        <p:spPr>
          <a:xfrm>
            <a:off x="9829800" y="2011680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in 5</a:t>
            </a:r>
            <a:endParaRPr lang="en-US" sz="2900" dirty="0"/>
          </a:p>
        </p:txBody>
      </p:sp>
      <p:sp>
        <p:nvSpPr>
          <p:cNvPr id="22" name="Text 20"/>
          <p:cNvSpPr/>
          <p:nvPr/>
        </p:nvSpPr>
        <p:spPr>
          <a:xfrm>
            <a:off x="9829800" y="3017520"/>
            <a:ext cx="1865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high-school &amp; college students already use AI for schoolwork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829800" y="448056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AI Index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 longer whether AI reshapes work — it is </a:t>
            </a:r>
            <a:pPr indent="0" marL="0">
              <a:buNone/>
            </a:pPr>
            <a:r>
              <a:rPr lang="en-US" sz="170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ready when it does.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Gladney (2026) — The AI Economy &amp; the Future Workforce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crossed the mainstream threshold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492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828800"/>
            <a:ext cx="457200" cy="457200"/>
          </a:xfrm>
          <a:prstGeom prst="ellipse">
            <a:avLst/>
          </a:prstGeom>
          <a:solidFill>
            <a:srgbClr val="132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072" y="1947672"/>
            <a:ext cx="219456" cy="219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36992" y="177393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more than doubled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7936992" y="210312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$252.3B → $581.7B in one year; generative AI took nearly half of private funding.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315200" y="3200400"/>
            <a:ext cx="457200" cy="457200"/>
          </a:xfrm>
          <a:prstGeom prst="ellipse">
            <a:avLst/>
          </a:prstGeom>
          <a:solidFill>
            <a:srgbClr val="13224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331927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6992" y="314553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geography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7936992" y="347472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private AI investment of $285.9B in 2025 was ~23× China's tracked $12.4B.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7315200" y="4572000"/>
            <a:ext cx="457200" cy="457200"/>
          </a:xfrm>
          <a:prstGeom prst="ellipse">
            <a:avLst/>
          </a:prstGeom>
          <a:solidFill>
            <a:srgbClr val="13224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072" y="4690872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936992" y="451713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keeps compounding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7936992" y="484632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worldwide AI spend is projected to reach $2.59T in 2026 (+47% YoY).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Stanford HAI AI Index 2025 &amp; 2026; McKinsey Global Survey on AI.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Gladney (2026) — The AI Economy &amp; the Future Workforce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MACROECONOMIC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multi-trillion-dollar prize — already materializing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4922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691640"/>
            <a:ext cx="4325112" cy="3977640"/>
          </a:xfrm>
          <a:prstGeom prst="roundRect">
            <a:avLst>
              <a:gd name="adj" fmla="val 1839"/>
            </a:avLst>
          </a:prstGeom>
          <a:solidFill>
            <a:srgbClr val="13224F"/>
          </a:solidFill>
          <a:ln/>
        </p:spPr>
      </p:sp>
      <p:sp>
        <p:nvSpPr>
          <p:cNvPr id="6" name="Text 3"/>
          <p:cNvSpPr/>
          <p:nvPr/>
        </p:nvSpPr>
        <p:spPr>
          <a:xfrm>
            <a:off x="7589520" y="1965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8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no longer only a forecast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89520" y="2514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~0.5 pp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006840" y="2532888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U.S. GDP growth in 2025 attributable to AI investment (IMF, Jul 2026)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589520" y="35387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$172B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006840" y="3557016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annual value already delivered to U.S. consumers by generative AI tools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589520" y="456285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006840" y="458114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U.S. workers use AI on the job, covering 5.2% of all U.S. work hours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5852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differ in scope and time base (cumulative vs. decade vs. annual) — a range, not a race.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Gladney (2026) — The AI Economy &amp; the Future Workforce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MACROECONOMIC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Productivity gains are proven, not promised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74066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737360"/>
            <a:ext cx="3410712" cy="3749040"/>
          </a:xfrm>
          <a:prstGeom prst="roundRect">
            <a:avLst>
              <a:gd name="adj" fmla="val 2145"/>
            </a:avLst>
          </a:prstGeom>
          <a:solidFill>
            <a:srgbClr val="EFF4FC"/>
          </a:solidFill>
          <a:ln/>
        </p:spPr>
      </p:sp>
      <p:sp>
        <p:nvSpPr>
          <p:cNvPr id="6" name="Shape 3"/>
          <p:cNvSpPr/>
          <p:nvPr/>
        </p:nvSpPr>
        <p:spPr>
          <a:xfrm>
            <a:off x="8503920" y="2057400"/>
            <a:ext cx="502920" cy="502920"/>
          </a:xfrm>
          <a:prstGeom prst="ellipse">
            <a:avLst/>
          </a:prstGeom>
          <a:solidFill>
            <a:srgbClr val="1322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4679" y="2188159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03920" y="27432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equity finding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503920" y="315468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Novices gain 34% vs. 14% on average — AI compresses the experience gap.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an assistant, AI is an equality-enhancing technology.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level: productivity growth in AI-exposed industries nearly quadrupled — 7% (2018–22) → 27% (2018–24). (PwC)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Gladney (2026) — The AI Economy &amp; the Future Workforce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WORKFORCE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Restructuring, not wholesale replacement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874520"/>
            <a:ext cx="457200" cy="457200"/>
          </a:xfrm>
          <a:prstGeom prst="ellipse">
            <a:avLst/>
          </a:prstGeom>
          <a:solidFill>
            <a:srgbClr val="132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2" y="1993392"/>
            <a:ext cx="219456" cy="219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91272" y="18196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today's jobs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7891272" y="21488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be structurally transformed by 2030 — churn is the real story beneath the net gain.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269480" y="3227832"/>
            <a:ext cx="457200" cy="457200"/>
          </a:xfrm>
          <a:prstGeom prst="ellipse">
            <a:avLst/>
          </a:prstGeom>
          <a:solidFill>
            <a:srgbClr val="13224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3346704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891272" y="31729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of employers plan cuts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7891272" y="350215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automates tasks — but nearly half plan to transition staff into growing roles instead.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7269480" y="4581144"/>
            <a:ext cx="457200" cy="457200"/>
          </a:xfrm>
          <a:prstGeom prst="ellipse">
            <a:avLst/>
          </a:prstGeom>
          <a:solidFill>
            <a:srgbClr val="13224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2" y="4700016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891272" y="4526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on both ends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7891272" y="4855464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Fastest-growing roles: big-data &amp; AI/ML specialists, software developers — plus care, education, agriculture, delivery.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WEF Future of Jobs Report 2025 — 1,000+ employers, 55 economies, 14M+ workers represented.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Gladney (2026) — The AI Economy &amp; the Future Workforce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WORKFORCE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two-track labor market is emerging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EDF5E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— PROFESSIONALISED BY AI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+35%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965960" y="231343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'seniorised' AI-exposed entry roles since 2019 — judgment and ownership expected on day one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21868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965960" y="32461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job growth than AI-'democratised' roles; wages growing 42% faster since 2021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4151376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2.5×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965960" y="417880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reliance on empathy, judgment &amp; creativity in newly added tasks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64592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F9EE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4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— ROUTINE &amp; ENTRY-LEVEL EXECUTION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22860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4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−20%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680960" y="231343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for software developers aged 22–25 in one year (2024→2025)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92240" y="321868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4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−13%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680960" y="32461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 for structured, repetitive cognitive roles since ChatGPT's launch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4151376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4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−10%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680960" y="41788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in entry-level roles that have not been redesigned since 2019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13224F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4864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rung of the career ladder is being redesigned in real time.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accrues to those who direct and verify AI — not those who compete with it at routine execution.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Gladney (2026) — The AI Economy &amp; the Future Workforce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WORKFORCE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 is repricing AI skills — fast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874520"/>
            <a:ext cx="4736592" cy="1170432"/>
          </a:xfrm>
          <a:prstGeom prst="roundRect">
            <a:avLst>
              <a:gd name="adj" fmla="val 5469"/>
            </a:avLst>
          </a:prstGeom>
          <a:solidFill>
            <a:srgbClr val="EFF4FC"/>
          </a:solidFill>
          <a:ln/>
        </p:spPr>
      </p:sp>
      <p:sp>
        <p:nvSpPr>
          <p:cNvPr id="6" name="Text 3"/>
          <p:cNvSpPr/>
          <p:nvPr/>
        </p:nvSpPr>
        <p:spPr>
          <a:xfrm>
            <a:off x="7178040" y="200253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118%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178040" y="24231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in consumer-markets roles — the highest-paying sector for AI skills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903720" y="3200400"/>
            <a:ext cx="4736592" cy="1170432"/>
          </a:xfrm>
          <a:prstGeom prst="roundRect">
            <a:avLst>
              <a:gd name="adj" fmla="val 5469"/>
            </a:avLst>
          </a:prstGeom>
          <a:solidFill>
            <a:srgbClr val="EFF4FC"/>
          </a:solidFill>
          <a:ln/>
        </p:spPr>
      </p:sp>
      <p:sp>
        <p:nvSpPr>
          <p:cNvPr id="9" name="Text 6"/>
          <p:cNvSpPr/>
          <p:nvPr/>
        </p:nvSpPr>
        <p:spPr>
          <a:xfrm>
            <a:off x="7178040" y="332841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+69% vs +9%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178040" y="37490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AI-skill postings vs. the total job market — nearly 8× faster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903720" y="4526280"/>
            <a:ext cx="4736592" cy="1170432"/>
          </a:xfrm>
          <a:prstGeom prst="roundRect">
            <a:avLst>
              <a:gd name="adj" fmla="val 5469"/>
            </a:avLst>
          </a:prstGeom>
          <a:solidFill>
            <a:srgbClr val="EFF4FC"/>
          </a:solidFill>
          <a:ln/>
        </p:spPr>
      </p:sp>
      <p:sp>
        <p:nvSpPr>
          <p:cNvPr id="12" name="Text 9"/>
          <p:cNvSpPr/>
          <p:nvPr/>
        </p:nvSpPr>
        <p:spPr>
          <a:xfrm>
            <a:off x="7178040" y="465429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Falling degrees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178040" y="5074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requirements are dropping fastest in AI-augmented jobs — skills-based hiring is winning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signal: 66% of leaders would not hire without AI skills; 71% prefer a less-experienced candidate with them. (Microsoft/LinkedIn)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Gladney (2026) — The AI Economy &amp; the Future Workforce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skills are gaining — and losing — value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7665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91640"/>
            <a:ext cx="4050792" cy="1920240"/>
          </a:xfrm>
          <a:prstGeom prst="roundRect">
            <a:avLst>
              <a:gd name="adj" fmla="val 3333"/>
            </a:avLst>
          </a:prstGeom>
          <a:solidFill>
            <a:srgbClr val="EDF5EE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with pay to match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863840" y="2176272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wages: CIS researchers $140,910 · info-security $124,910 · data scientists $112,590. LinkedIn: AI literacy is the #1 U.S. skill on the rise — member AI skills +177% in 12 months.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589520" y="3794760"/>
            <a:ext cx="4050792" cy="2011680"/>
          </a:xfrm>
          <a:prstGeom prst="roundRect">
            <a:avLst>
              <a:gd name="adj" fmla="val 3182"/>
            </a:avLst>
          </a:prstGeom>
          <a:solidFill>
            <a:srgbClr val="F9EEED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0" y="3931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4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actually declining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863840" y="4279392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'human skills' — routine execution: standardized typing, data entry, information routing, low-discretion transaction handling, boilerplate coding as a standalone moat.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U.S. Bureau of Labor Statistics (2024–34 projections, 2024 median wages); LinkedIn Skills on the Rise 2026.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Gladney (2026) — The AI Economy &amp; the Future Workforce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LITERACY &amp; EDUCATION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Learners are ahead of institutions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91672" cy="1024128"/>
          </a:xfrm>
          <a:prstGeom prst="roundRect">
            <a:avLst>
              <a:gd name="adj" fmla="val 6250"/>
            </a:avLst>
          </a:prstGeom>
          <a:solidFill>
            <a:srgbClr val="EFF4F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755648"/>
            <a:ext cx="548640" cy="548640"/>
          </a:xfrm>
          <a:prstGeom prst="ellipse">
            <a:avLst/>
          </a:prstGeom>
          <a:solidFill>
            <a:srgbClr val="132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" y="189829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71907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have moved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480560" y="16916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 5 U.S. high-school &amp; college students use AI for schoolwork — but only half of secondary schools have AI policies, and just 6% of teachers call them clear.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61488"/>
            <a:ext cx="11091672" cy="1024128"/>
          </a:xfrm>
          <a:prstGeom prst="roundRect">
            <a:avLst>
              <a:gd name="adj" fmla="val 6250"/>
            </a:avLst>
          </a:prstGeom>
          <a:solidFill>
            <a:srgbClr val="EFF4FC"/>
          </a:solidFill>
          <a:ln/>
        </p:spPr>
      </p:sp>
      <p:sp>
        <p:nvSpPr>
          <p:cNvPr id="10" name="Shape 7"/>
          <p:cNvSpPr/>
          <p:nvPr/>
        </p:nvSpPr>
        <p:spPr>
          <a:xfrm>
            <a:off x="804672" y="2889504"/>
            <a:ext cx="548640" cy="548640"/>
          </a:xfrm>
          <a:prstGeom prst="ellipse">
            <a:avLst/>
          </a:prstGeom>
          <a:solidFill>
            <a:srgbClr val="132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18" y="3032150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72768" y="2852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see the dividend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480560" y="2825496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U.S. K-12 teachers used AI in 2024–25; weekly users save ~5.9 hours per week (≈ six weeks a year) — yet only 18% received formal guidance.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95344"/>
            <a:ext cx="11091672" cy="1024128"/>
          </a:xfrm>
          <a:prstGeom prst="roundRect">
            <a:avLst>
              <a:gd name="adj" fmla="val 6250"/>
            </a:avLst>
          </a:prstGeom>
          <a:solidFill>
            <a:srgbClr val="EFF4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04672" y="4023360"/>
            <a:ext cx="548640" cy="548640"/>
          </a:xfrm>
          <a:prstGeom prst="ellipse">
            <a:avLst/>
          </a:prstGeom>
          <a:solidFill>
            <a:srgbClr val="132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" y="416600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72768" y="398678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is scaffolding up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480560" y="3959352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 14277 on AI education (Apr 2025); DOL AI Literacy Framework &amp; WIOA funding; 35 states + Puerto Rico with official K-12 AI guidance; Ohio mandates district AI policies by Jul 2026.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5029200"/>
            <a:ext cx="11091672" cy="1024128"/>
          </a:xfrm>
          <a:prstGeom prst="roundRect">
            <a:avLst>
              <a:gd name="adj" fmla="val 6250"/>
            </a:avLst>
          </a:prstGeom>
          <a:solidFill>
            <a:srgbClr val="EFF4FC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5157216"/>
            <a:ext cx="548640" cy="548640"/>
          </a:xfrm>
          <a:prstGeom prst="ellipse">
            <a:avLst/>
          </a:prstGeom>
          <a:solidFill>
            <a:srgbClr val="1322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" y="5299862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72768" y="51206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curriculum exists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4480560" y="5093208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UNESCO's AI competency frameworks for students &amp; teachers (2024) structure literacy across understand → apply → create: mindset, ethics, techniques, system design.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literacy turns trillion-dollar projections into raises, careers, and first jobs.  </a:t>
            </a:r>
            <a:pPr indent="0" marL="0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AI Index 2026; Gallup; DOL; NASBE; UNESCO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Gladney (2026) — The AI Economy &amp; the Future Workforce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AI-JOB READINESS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AI readiness: KSA → OKR → KPI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3703320"/>
          </a:xfrm>
          <a:prstGeom prst="roundRect">
            <a:avLst>
              <a:gd name="adj" fmla="val 2025"/>
            </a:avLst>
          </a:prstGeom>
          <a:solidFill>
            <a:srgbClr val="E9F1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KSA — the person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fundamentals · data literacy · ethics, governance &amp; regulation · domain expertise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&amp; tool orchestration · output verification · data analysis · workflow redesign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43434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Abilities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46177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· critical thinking · adaptability · communication &amp; collaboration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87368" y="324612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288536" y="1645920"/>
            <a:ext cx="3611880" cy="3703320"/>
          </a:xfrm>
          <a:prstGeom prst="roundRect">
            <a:avLst>
              <a:gd name="adj" fmla="val 2025"/>
            </a:avLst>
          </a:prstGeom>
          <a:solidFill>
            <a:srgbClr val="EDF5EE"/>
          </a:solidFill>
          <a:ln/>
        </p:spPr>
      </p:sp>
      <p:sp>
        <p:nvSpPr>
          <p:cNvPr id="14" name="Text 12"/>
          <p:cNvSpPr/>
          <p:nvPr/>
        </p:nvSpPr>
        <p:spPr>
          <a:xfrm>
            <a:off x="4517136" y="1828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OKR — the program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517136" y="2331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17136" y="26060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AI-ready workforce capturing measurable value within 12 months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17136" y="3337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KR1–KR2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17136" y="36118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complete role-based AI-literacy training · 60% weekly active use of approved tools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17136" y="43434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17136" y="46177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workers in automated task areas redeployed into augmented roles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27264" y="324612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028432" y="1645920"/>
            <a:ext cx="3611880" cy="3703320"/>
          </a:xfrm>
          <a:prstGeom prst="roundRect">
            <a:avLst>
              <a:gd name="adj" fmla="val 2025"/>
            </a:avLst>
          </a:prstGeom>
          <a:solidFill>
            <a:srgbClr val="FBF3E4"/>
          </a:solidFill>
          <a:ln/>
        </p:spPr>
      </p:sp>
      <p:sp>
        <p:nvSpPr>
          <p:cNvPr id="23" name="Text 21"/>
          <p:cNvSpPr/>
          <p:nvPr/>
        </p:nvSpPr>
        <p:spPr>
          <a:xfrm>
            <a:off x="8257032" y="1828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A6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— the measurement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257032" y="2331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57032" y="26060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literacy certification rate · weekly active-use rate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57032" y="3337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57032" y="36118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delta per augmented role · time-to-proficiency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57032" y="43434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57032" y="46177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redeployment rate · wage progression of reskilled workers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13224F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55961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results feed the next KSA gap analysis and OKR cycle — re-baselined against live skills-demand data, because skills in AI-exposed jobs change 66% faster.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Gladney (2026) — The AI Economy &amp; the Future Workforce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TRENDS — THE LAST 60 DAYS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Sixty days that raised the stakes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74520" y="1783080"/>
            <a:ext cx="0" cy="4160520"/>
          </a:xfrm>
          <a:prstGeom prst="line">
            <a:avLst/>
          </a:prstGeom>
          <a:noFill/>
          <a:ln w="31750">
            <a:solidFill>
              <a:srgbClr val="9DC1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7652" y="1773936"/>
            <a:ext cx="173736" cy="173736"/>
          </a:xfrm>
          <a:prstGeom prst="ellipse">
            <a:avLst/>
          </a:prstGeom>
          <a:solidFill>
            <a:srgbClr val="13224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240280" y="1691640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 14409: U.S. AI-cybersecurity clearinghouse for federal &amp; critical-infrastructure defense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787652" y="2308860"/>
            <a:ext cx="173736" cy="173736"/>
          </a:xfrm>
          <a:prstGeom prst="ellipse">
            <a:avLst/>
          </a:prstGeom>
          <a:solidFill>
            <a:srgbClr val="13224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2656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8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40280" y="2226564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ships next-gen Apple Intelligence &amp; Siri AI — AI becomes default OS behavior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787652" y="2843784"/>
            <a:ext cx="173736" cy="173736"/>
          </a:xfrm>
          <a:prstGeom prst="ellipse">
            <a:avLst/>
          </a:prstGeom>
          <a:solidFill>
            <a:srgbClr val="13224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6148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10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240280" y="2761488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publishes Code of Practice for marking &amp; labelling AI-generated content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787652" y="3378708"/>
            <a:ext cx="173736" cy="173736"/>
          </a:xfrm>
          <a:prstGeom prst="ellipse">
            <a:avLst/>
          </a:prstGeom>
          <a:solidFill>
            <a:srgbClr val="13224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9641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8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240280" y="3296412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IMF: growth cut to 3.0%; record energy shock (oil +32%) vs. an AI investment supercycle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787652" y="3913632"/>
            <a:ext cx="173736" cy="173736"/>
          </a:xfrm>
          <a:prstGeom prst="ellipse">
            <a:avLst/>
          </a:prstGeom>
          <a:solidFill>
            <a:srgbClr val="13224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3133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240280" y="3831336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economists, incl. 16 Nobel laureates, warn: prepare for AI's economic impact now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787652" y="4448556"/>
            <a:ext cx="173736" cy="173736"/>
          </a:xfrm>
          <a:prstGeom prst="ellipse">
            <a:avLst/>
          </a:prstGeom>
          <a:solidFill>
            <a:srgbClr val="13224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3662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240280" y="4366260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launches first statewide hyperscale data-center moratorium; GOLD EAGLE cyber program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787652" y="4983480"/>
            <a:ext cx="173736" cy="173736"/>
          </a:xfrm>
          <a:prstGeom prst="ellipse">
            <a:avLst/>
          </a:prstGeom>
          <a:solidFill>
            <a:srgbClr val="13224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90118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16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240280" y="4901184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countries sign on to a China-backed World AI Cooperation Organization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787652" y="5518404"/>
            <a:ext cx="173736" cy="173736"/>
          </a:xfrm>
          <a:prstGeom prst="ellipse">
            <a:avLst/>
          </a:prstGeom>
          <a:solidFill>
            <a:srgbClr val="D89A2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43610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A6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240280" y="5436108"/>
            <a:ext cx="937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high-risk regime becomes enforceable — fines up to €35M / 7% of revenue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White House; Apple; European Commission; IMF WEO Update (Jul 8, 2026); Stanford Digital Economy Lab; NY Governor's office; Reuters.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Gladney (2026) — The AI Economy &amp; the Future Workforce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TRENDS — THE LAST 60 DAYS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will households feel 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969264"/>
          </a:xfrm>
          <a:prstGeom prst="roundRect">
            <a:avLst>
              <a:gd name="adj" fmla="val 6604"/>
            </a:avLst>
          </a:prstGeom>
          <a:solidFill>
            <a:srgbClr val="EFF4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64792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8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554480" y="1892808"/>
            <a:ext cx="530352" cy="530352"/>
          </a:xfrm>
          <a:prstGeom prst="ellipse">
            <a:avLst/>
          </a:prstGeom>
          <a:solidFill>
            <a:srgbClr val="1322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2372" y="2030700"/>
            <a:ext cx="254569" cy="2545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31720" y="176479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prices &amp; inflation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349240" y="1746504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oil shock (+32%) passes through to fuel, heating, and food within months — and raises the cost of the power-hungry AI build-out itself.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2770632"/>
            <a:ext cx="11091672" cy="969264"/>
          </a:xfrm>
          <a:prstGeom prst="roundRect">
            <a:avLst>
              <a:gd name="adj" fmla="val 6604"/>
            </a:avLst>
          </a:prstGeom>
          <a:solidFill>
            <a:srgbClr val="EFF4FC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843784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8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1554480" y="2971800"/>
            <a:ext cx="530352" cy="530352"/>
          </a:xfrm>
          <a:prstGeom prst="ellipse">
            <a:avLst/>
          </a:prstGeom>
          <a:solidFill>
            <a:srgbClr val="13224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372" y="3109692"/>
            <a:ext cx="254569" cy="25456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331720" y="2843784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entry-level squeeze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349240" y="2825496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~20% one-year employment drop for the youngest software developers changes the first rung of the career ladder now — not in 2030.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849624"/>
            <a:ext cx="11091672" cy="969264"/>
          </a:xfrm>
          <a:prstGeom prst="roundRect">
            <a:avLst>
              <a:gd name="adj" fmla="val 6604"/>
            </a:avLst>
          </a:prstGeom>
          <a:solidFill>
            <a:srgbClr val="EFF4FC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3922776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8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Shape 14"/>
          <p:cNvSpPr/>
          <p:nvPr/>
        </p:nvSpPr>
        <p:spPr>
          <a:xfrm>
            <a:off x="1554480" y="4050792"/>
            <a:ext cx="530352" cy="530352"/>
          </a:xfrm>
          <a:prstGeom prst="ellipse">
            <a:avLst/>
          </a:prstGeom>
          <a:solidFill>
            <a:srgbClr val="13224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372" y="4188684"/>
            <a:ext cx="254569" cy="25456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331720" y="3922776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embedded by default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5349240" y="3904488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AI and next-gen assistants make search, drafting, scheduling, and messaging AI-mediated out of the box on mainstream devices.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4928616"/>
            <a:ext cx="11091672" cy="969264"/>
          </a:xfrm>
          <a:prstGeom prst="roundRect">
            <a:avLst>
              <a:gd name="adj" fmla="val 6604"/>
            </a:avLst>
          </a:prstGeom>
          <a:solidFill>
            <a:srgbClr val="EFF4FC"/>
          </a:solidFill>
          <a:ln/>
        </p:spPr>
      </p:sp>
      <p:sp>
        <p:nvSpPr>
          <p:cNvPr id="23" name="Text 18"/>
          <p:cNvSpPr/>
          <p:nvPr/>
        </p:nvSpPr>
        <p:spPr>
          <a:xfrm>
            <a:off x="777240" y="5001768"/>
            <a:ext cx="685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8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4" name="Shape 19"/>
          <p:cNvSpPr/>
          <p:nvPr/>
        </p:nvSpPr>
        <p:spPr>
          <a:xfrm>
            <a:off x="1554480" y="5129784"/>
            <a:ext cx="530352" cy="530352"/>
          </a:xfrm>
          <a:prstGeom prst="ellipse">
            <a:avLst/>
          </a:prstGeom>
          <a:solidFill>
            <a:srgbClr val="13224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2372" y="5267676"/>
            <a:ext cx="254569" cy="25456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331720" y="50017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AI content &amp; new rights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5349240" y="4983480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enforcement plus content-labelling rules bring visible AI labels and recourse on automated decisions — a template likely to spread.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 longer only a software story — it is an energy, land-use, and community story too (data-center protests in 125+ U.S. locations).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Gladney (2026) — The AI Economy &amp; the Future Workforce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stakeholder should do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4343400"/>
          </a:xfrm>
          <a:prstGeom prst="roundRect">
            <a:avLst>
              <a:gd name="adj" fmla="val 2025"/>
            </a:avLst>
          </a:prstGeom>
          <a:solidFill>
            <a:srgbClr val="EFF4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47088"/>
            <a:ext cx="502920" cy="502920"/>
          </a:xfrm>
          <a:prstGeom prst="ellipse">
            <a:avLst/>
          </a:prstGeom>
          <a:solidFill>
            <a:srgbClr val="132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97784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Policymakers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04672" y="251460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AI literacy foundational — on par with reading and numeracy (UNESCO frameworks as scaffolding)</a:t>
            </a:r>
            <a:endParaRPr lang="en-US" sz="1100" dirty="0"/>
          </a:p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teacher professional development first — frameworks without trained teachers are unfunded mandates</a:t>
            </a:r>
            <a:endParaRPr lang="en-US" sz="1100" dirty="0"/>
          </a:p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WIOA machinery at adults and displaced workers, with KSA-based eligibility and KPI accountability</a:t>
            </a:r>
            <a:endParaRPr lang="en-US" sz="1100" dirty="0"/>
          </a:p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first-job pathways — apprenticeships targeted at the entry-level squeeze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88536" y="1645920"/>
            <a:ext cx="3611880" cy="4343400"/>
          </a:xfrm>
          <a:prstGeom prst="roundRect">
            <a:avLst>
              <a:gd name="adj" fmla="val 2025"/>
            </a:avLst>
          </a:prstGeom>
          <a:solidFill>
            <a:srgbClr val="EFF4FC"/>
          </a:solidFill>
          <a:ln/>
        </p:spPr>
      </p:sp>
      <p:sp>
        <p:nvSpPr>
          <p:cNvPr id="10" name="Shape 7"/>
          <p:cNvSpPr/>
          <p:nvPr/>
        </p:nvSpPr>
        <p:spPr>
          <a:xfrm>
            <a:off x="4517136" y="1847088"/>
            <a:ext cx="502920" cy="502920"/>
          </a:xfrm>
          <a:prstGeom prst="ellipse">
            <a:avLst/>
          </a:prstGeom>
          <a:solidFill>
            <a:srgbClr val="132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895" y="197784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57216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44568" y="251460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for skills — degree signals are weakening fastest in transformed roles</a:t>
            </a:r>
            <a:endParaRPr lang="en-US" sz="1100" dirty="0"/>
          </a:p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readiness as a managed program (KSA → OKR → KPI), not ad-hoc training</a:t>
            </a:r>
            <a:endParaRPr lang="en-US" sz="1100" dirty="0"/>
          </a:p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least experienced first — that is where measured gains are largest (+34%)</a:t>
            </a:r>
            <a:endParaRPr lang="en-US" sz="1100" dirty="0"/>
          </a:p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entry roles rather than cutting them; treat EU AI Act (Aug 2) as a program deadline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28432" y="1645920"/>
            <a:ext cx="3611880" cy="4343400"/>
          </a:xfrm>
          <a:prstGeom prst="roundRect">
            <a:avLst>
              <a:gd name="adj" fmla="val 2025"/>
            </a:avLst>
          </a:prstGeom>
          <a:solidFill>
            <a:srgbClr val="EFF4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257032" y="1847088"/>
            <a:ext cx="502920" cy="502920"/>
          </a:xfrm>
          <a:prstGeom prst="ellipse">
            <a:avLst/>
          </a:prstGeom>
          <a:solidFill>
            <a:srgbClr val="132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791" y="1977847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97112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Workers &amp; students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84464" y="251460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demonstrable AI fluency in your own domain — where the 62% premium attaches</a:t>
            </a:r>
            <a:endParaRPr lang="en-US" sz="1100" dirty="0"/>
          </a:p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Cultivate what AI can't supply: judgment, verification, communication, domain depth</a:t>
            </a:r>
            <a:endParaRPr lang="en-US" sz="1100" dirty="0"/>
          </a:p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continuous reskilling — 39% of today's skills change by 2030</a:t>
            </a:r>
            <a:endParaRPr lang="en-US" sz="1100" dirty="0"/>
          </a:p>
          <a:p>
            <a:pPr marL="152400" indent="-152400">
              <a:lnSpc>
                <a:spcPts val="13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Early-career: target 'seniorised' roles — show ownership and AI leverage, not task throughput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Gladney (2026) — The AI Economy &amp; the Future Workforce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8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64592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 neither a job destroyer nor an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prosperity machine.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3200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force multiplier whose outcomes depend on literacy, work redesign, governance, and measurement discipline. The aggregate benefits are real; their distribution is decided in classrooms, training programs, and hiring policies.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443484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 w="15875">
            <a:solidFill>
              <a:srgbClr val="D89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434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literacy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081528" y="44348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8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94176" y="4434840"/>
            <a:ext cx="292608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 w="15875">
            <a:solidFill>
              <a:srgbClr val="D89A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94176" y="4434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expertise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729984" y="44348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8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342632" y="443484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 w="15875">
            <a:solidFill>
              <a:srgbClr val="D89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42632" y="44348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judgment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85800" y="53492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winning formula for pay and job security in the AI economy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Ronnie Gladney</a:t>
            </a:r>
            <a:pPr indent="0" marL="0">
              <a:buNone/>
            </a:pPr>
            <a:r>
              <a:rPr lang="en-US" sz="1200" dirty="0">
                <a:solidFill>
                  <a:srgbClr val="9DC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 Consultant  ·  rongladney@gmail.com  ·  Full papers: Markdown &amp; PDF with 30+ cited sources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2026-07-19T01:05:41Z</dcterms:created>
  <dcterms:modified xsi:type="dcterms:W3CDTF">2026-07-19T01:05:41Z</dcterms:modified>
</cp:coreProperties>
</file>